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EF476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73152" cy="3657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WORKSHOP  /  2026.04.28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Rheiメンバーが</a:t>
            </a:r>
            <a:endParaRPr lang="en-US" sz="4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導入すべきMCPとその入門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Model Context Protocol で Claude Code を進化させる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365760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社内勉強会ハンズオン資料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想定時間: 約60分（ハンズオン込み）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登壇者: 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01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Opening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本日のゴール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518008" y="21945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2328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838048" y="3383280"/>
            <a:ext cx="548640" cy="457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3" name="Text 11"/>
          <p:cNvSpPr/>
          <p:nvPr/>
        </p:nvSpPr>
        <p:spPr>
          <a:xfrm>
            <a:off x="792328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MCPを理解する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2328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Model Context Protocolが何かをイメージで掴む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12768" y="21945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87088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4632808" y="3383280"/>
            <a:ext cx="548640" cy="457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4587088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5つのMCPを導入する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87088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社内標準MCPを自分のClaude Codeに入れられる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7528" y="21945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81848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8427568" y="3383280"/>
            <a:ext cx="548640" cy="457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8381848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つまずきを回避する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81848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 vs Desktop など、よくある罠を押さえる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8008" y="5760720"/>
            <a:ext cx="11155680" cy="548640"/>
          </a:xfrm>
          <a:prstGeom prst="roundRect">
            <a:avLst>
              <a:gd name="adj" fmla="val 8333"/>
            </a:avLst>
          </a:prstGeom>
          <a:solidFill>
            <a:srgbClr val="0F2C59"/>
          </a:solidFill>
          <a:ln/>
        </p:spPr>
      </p:sp>
      <p:sp>
        <p:nvSpPr>
          <p:cNvPr id="26" name="Text 24"/>
          <p:cNvSpPr/>
          <p:nvPr/>
        </p:nvSpPr>
        <p:spPr>
          <a:xfrm>
            <a:off x="518008" y="57607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⏱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想定時間 </a:t>
            </a:r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約60分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（ハンズオン込み）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02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Speaker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自己紹介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94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F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RECENT HIGHLIGHT</a:t>
            </a:r>
            <a:endParaRPr lang="en-US" sz="800" dirty="0"/>
          </a:p>
        </p:txBody>
      </p:sp>
      <p:pic>
        <p:nvPicPr>
          <p:cNvPr id="12" name="Image 0" descr="jopt_14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3200400" cy="183125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" y="4665897"/>
            <a:ext cx="54864" cy="1371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665897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JOPT 2026 Grand Final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958505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pPr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783080" y="5031657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#52 NLH Doublestack Turbo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2026.04.27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89120" y="228600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2240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NAME / ROLE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25603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かず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389120" y="324612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0" y="3200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 歴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0" y="3520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実は1ヶ月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（短いけど毎日触ってます）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389120" y="420624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0" y="4160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普段の使い方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0" y="44805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コーディング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389120" y="5166360"/>
            <a:ext cx="54864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0" y="5120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今日話す範囲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0" y="5440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Model Context Protocol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03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Icebreaker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 使っていますか！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❓  質問タイム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669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普段から Claude Code を触っている人？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5669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MCPを設定したことがある人？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669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~/.claude/settings.json を開いたことがある人？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21945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0F2C59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👋  触ったことがない方へ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 とは？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66560" y="3383280"/>
            <a:ext cx="137160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5204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Anthropic公式の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CLI型コーディングエージェント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ターミナルから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コマンドで起動し、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コードベースを理解しながら開発を進めてくれる。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04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is MCP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MCPとは — Model Context Protocol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031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109728" cy="1463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1945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Anthropicが策定した、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LLM ⇄ 外部ツール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の通信プロトコル。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Codeの </a:t>
            </a:r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「拡張機能」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を追加する仕組み、と理解すればOK。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2つの形式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ローカルプロセス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/ SSE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5623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リモートサーバー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何が嬉しい？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4160520"/>
            <a:ext cx="7040880" cy="3657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MCPあり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MCPなし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4526280"/>
            <a:ext cx="70408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5262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5262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最新ドキュメントを参照（Context7）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452628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45262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学習データの古い情報で実装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4855464"/>
            <a:ext cx="7040880" cy="329184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48554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85546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シンボル単位で精密に編集（Serena）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48554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485546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ファイル全文をスキャン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5184648"/>
            <a:ext cx="70408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617720" y="5184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51846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過去の知見を引き継ぐ（Cipher）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51846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12480" y="51846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セッションごとに記憶リセット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5513832"/>
            <a:ext cx="7040880" cy="329184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55138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55138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PR/Issue管理を自動化（GitHub MCP）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38160" y="55138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12480" y="551383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GitHub操作は手動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5843016"/>
            <a:ext cx="70408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720" y="58430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92040" y="5843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音声で報告（VoiceVox）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38160" y="58430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12480" y="5843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完了通知に気づかない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05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 Lineup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推奨MCP（社内標準）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Codeの弱点を補う </a:t>
            </a:r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5つのMCP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を社内標準に。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「最新情報・コード理解・記憶・GitHub・通知」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をカバーする構成。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0264" y="23774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0264" y="2377440"/>
            <a:ext cx="21945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63144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3144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3184" y="301752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83184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🖼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17424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Context7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103224" y="434340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424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ライブラリの最新ドキュメント取得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3144" y="4937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古いAPIで実装する事故を防ぐ。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学習カットオフ後の変更にも対応。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39416" y="23774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39416" y="2377440"/>
            <a:ext cx="21945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2822296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22296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42336" y="301752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142336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🖼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776576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Serena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462376" y="434340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6576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LSPベースのコード解析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822296" y="4937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シンボル単位で参照・編集。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大きいコードベースでも迷わない。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98568" y="23774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98568" y="2377440"/>
            <a:ext cx="219456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181448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81448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01488" y="301752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5501488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🖼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135728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Cipher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821528" y="434340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5728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ローカルメモリ層（知見の蓄積）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81448" y="4937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セッションを跨いで記憶。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同じ説明を何度もしなくて済む。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57720" y="23774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57720" y="2377440"/>
            <a:ext cx="2194560" cy="457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3" name="Text 41"/>
          <p:cNvSpPr/>
          <p:nvPr/>
        </p:nvSpPr>
        <p:spPr>
          <a:xfrm>
            <a:off x="75406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406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60640" y="301752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7860640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🖼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7494880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MCP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8180680" y="4343400"/>
            <a:ext cx="54864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488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GitHub操作（PR/Issue/コミット）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540600" y="4937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PR作成・レビューを直接実行。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手作業でのコピペが減る。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16872" y="23774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716872" y="2377440"/>
            <a:ext cx="2194560" cy="4572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53" name="Text 51"/>
          <p:cNvSpPr/>
          <p:nvPr/>
        </p:nvSpPr>
        <p:spPr>
          <a:xfrm>
            <a:off x="9899752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899752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お好みで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219792" y="3017520"/>
            <a:ext cx="1188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10219792" y="30175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🖼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9854032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VoiceVox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0539832" y="4343400"/>
            <a:ext cx="548640" cy="0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54032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音声通知（ずんだもん）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899752" y="4937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完了通知をずんだもんが報告。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別作業との並行がしやすい。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0F2C59"/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必須3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Context7 + Serena + Cipher</a:t>
            </a:r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＋   </a:t>
            </a:r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</a:t>
            </a:r>
            <a:pPr algn="ctr"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＋   </a:t>
            </a:r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お好みで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VoiceVox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06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⚠️ Claude Code CLI と Claude Desktop は別物！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名前は似ているが </a:t>
            </a:r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完全に別アプリ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。設定ファイルも別、MCPの読み込み先も別。</a:t>
            </a:r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「設定したのに動かない」</a:t>
            </a:r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事故の99%はここ。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568" y="233172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6568" y="2331720"/>
            <a:ext cx="548640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00888" y="2331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 (CLI)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5648" y="24780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4495648" y="247802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本日の対象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0888" y="30632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0888" y="3255264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ターミナルコマンド `claude`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0888" y="3593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設定ファイル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0888" y="3785616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0888" y="41239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推奨用途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0888" y="4315968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コーディング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0888" y="46542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MCPの管理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0888" y="4846320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list / add / remove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78728" y="233172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78728" y="2331720"/>
            <a:ext cx="5486400" cy="594360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6" name="Text 24"/>
          <p:cNvSpPr/>
          <p:nvPr/>
        </p:nvSpPr>
        <p:spPr>
          <a:xfrm>
            <a:off x="6553048" y="2331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Desktop (GUI)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347808" y="247802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/>
        </p:spPr>
      </p:sp>
      <p:sp>
        <p:nvSpPr>
          <p:cNvPr id="28" name="Text 26"/>
          <p:cNvSpPr/>
          <p:nvPr/>
        </p:nvSpPr>
        <p:spPr>
          <a:xfrm>
            <a:off x="10347808" y="247802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F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53048" y="30632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53048" y="3255264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 / Windows のGUIアプリ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53048" y="3593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設定ファイル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53048" y="37856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~/Library/Application Support/Claude/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claude_desktop_config.json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3048" y="430682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推奨用途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53048" y="4498848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チャット・調査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53048" y="474573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MCPの管理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53048" y="4937760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GUIから手動で再起動が必要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532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DECE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6052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よくある事故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Desktop版の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claude_desktop_config.json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に書いてもCLIには反映されない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5532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E6F7F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56052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200" kern="0" dirty="0">
                <a:solidFill>
                  <a:srgbClr val="0E8A6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確認方法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ターミナルで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E8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list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を叩いてMCP一覧が出ればCLI側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07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Setup #1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SERENA の入れ方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9456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317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ABOUT SERENA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LSPベースのコード解析MCP。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シンボル単位で参照・リネーム・編集ができ、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ファイル全文を読まずに最小トークンで作業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できる。大規模コードベースでも迷わない。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4023360"/>
            <a:ext cx="4114800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1B2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5720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" y="45720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296" y="45720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846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uv (uvxを含む) が必要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uvx --version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未インストールなら: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-LsSf https://astral.sh/uv/install.sh | sh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5623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CLIで一発追加するなら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897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--scope user serena -- uvx ...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2697480"/>
            <a:ext cx="6400800" cy="3657600"/>
          </a:xfrm>
          <a:prstGeom prst="roundRect">
            <a:avLst>
              <a:gd name="adj" fmla="val 1500"/>
            </a:avLst>
          </a:prstGeom>
          <a:solidFill>
            <a:srgbClr val="1B2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2834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2834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843016" y="2834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3108960"/>
            <a:ext cx="6035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"serena":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"uvx",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"--from",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"git+https://github.com/oraios/serena",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"serena",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"start-mcp-server",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"--context",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"ide-assistant"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08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Setup #2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CONTEXT7 の入れ方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9456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3172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ABOUT CONTEXT7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ライブラリの最新ドキュメントをリアルタイム取得。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学習カットオフを超えて </a:t>
            </a:r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最新APIに追従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でき、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古いAPIで実装する事故を防げる。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4114800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B2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38912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" y="438912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296" y="438912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663440"/>
            <a:ext cx="3749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--version  # Node.js が入っていればOK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使い方のコツ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プロンプトに 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context7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と書くと参照される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に「常にContext7で確認」と書けば自動化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496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2697480"/>
            <a:ext cx="6400800" cy="2286000"/>
          </a:xfrm>
          <a:prstGeom prst="roundRect">
            <a:avLst>
              <a:gd name="adj" fmla="val 2400"/>
            </a:avLst>
          </a:prstGeom>
          <a:solidFill>
            <a:srgbClr val="1B2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2834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2834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843016" y="2834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3108960"/>
            <a:ext cx="6035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"context7":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 "@upstash/context7-mcp@latest"]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5120640"/>
            <a:ext cx="6400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394960" y="5120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🖼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Context7 連携イメージ図（後で追加）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09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Setup #3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Cipher の入れ方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9456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317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ABOUT CIPHER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SQLiteベースのローカルメモリ層MCP。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セッションをまたいで知見を蓄積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でき、過去のやり取りや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コーディング規約を覚えさせて再利用できる。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931920"/>
            <a:ext cx="4114800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343400"/>
            <a:ext cx="4114800" cy="1280160"/>
          </a:xfrm>
          <a:prstGeom prst="roundRect">
            <a:avLst>
              <a:gd name="adj" fmla="val 4286"/>
            </a:avLst>
          </a:prstGeom>
          <a:solidFill>
            <a:srgbClr val="1B2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48056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" y="448056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296" y="448056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54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CLIをグローバルインストール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(これを忘れがち！)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@byterover/cipher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cipher --version  # 動作確認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5715000"/>
            <a:ext cx="4114800" cy="548640"/>
          </a:xfrm>
          <a:prstGeom prst="roundRect">
            <a:avLst>
              <a:gd name="adj" fmla="val 8333"/>
            </a:avLst>
          </a:prstGeom>
          <a:solidFill>
            <a:srgbClr val="FFF3D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715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spc="200" kern="0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TIP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APIキーは ~/.zshrc に export ANTHROPIC_API_KEY=… でもOK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0" y="269748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1B2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2834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2834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843016" y="2834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3108960"/>
            <a:ext cx="6035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"cipher":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"stdio",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"cipher",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["--mode", "mcp"],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"MCP_SERVER_MODE": "aggregator",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"ANTHROPIC_API_KEY": "sk-ant-xxxxxxxx"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10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Setup #4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MCP の入れ方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9456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31720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1F4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ABOUT GITHUB MCP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GitHub公式のMCPサーバー。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PR作成・Issue管理・レビュー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Codeから直接実行できる。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ブラウザを開かずに完結。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931920"/>
            <a:ext cx="4114800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297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Personal Access Token (PAT)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Scope: repo, read:org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5257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5212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Docker Desktop のインストール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（公式版はDockerベース）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94960" y="2697480"/>
            <a:ext cx="6400800" cy="2834640"/>
          </a:xfrm>
          <a:prstGeom prst="roundRect">
            <a:avLst>
              <a:gd name="adj" fmla="val 1935"/>
            </a:avLst>
          </a:prstGeom>
          <a:solidFill>
            <a:srgbClr val="1B2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32120" y="2834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5687568" y="2834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5843016" y="2834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3108960"/>
            <a:ext cx="6035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"github":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"docker",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"run", "-i", "--rm",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"-e", "GITHUB_PERSONAL_ACCESS_TOKEN",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"ghcr.io/github/github-mcp-server"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"GITHUB_PERSONAL_ACCESS_TOKEN": "ghp_xxxxxxxx"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94960" y="5669280"/>
            <a:ext cx="6400800" cy="640080"/>
          </a:xfrm>
          <a:prstGeom prst="roundRect">
            <a:avLst>
              <a:gd name="adj" fmla="val 8571"/>
            </a:avLst>
          </a:prstGeom>
          <a:solidFill>
            <a:srgbClr val="FDECE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5669280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⚠️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旧npm版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@modelcontextprotocol/server-github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はアーカイブ済み。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 公式Docker版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を使うこと。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11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Setup #5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ずんだもん（VoiceVox）MCP の入れ方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9456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3172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EF476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ABOUT VOICEVOX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タスク完了時にずんだもんの声で報告するMCP。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別作業との並行がしやすくなり、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待ち時間のストレスが減る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と評判。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7724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🖼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ずんだもん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3840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41148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VOICEVOX 本体を起動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voicevox.hiroshiba.jp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からDL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http://localhost:50021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でAPI起動を確認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5577840"/>
            <a:ext cx="4114800" cy="594360"/>
          </a:xfrm>
          <a:prstGeom prst="roundRect">
            <a:avLst>
              <a:gd name="adj" fmla="val 7692"/>
            </a:avLst>
          </a:prstGeom>
          <a:solidFill>
            <a:srgbClr val="FFF3D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961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76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TIP  </a:t>
            </a:r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DEFAULT_VOICE_ID: 7 = ずんだもん（ノーマル）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94960" y="2697480"/>
            <a:ext cx="6400800" cy="3566160"/>
          </a:xfrm>
          <a:prstGeom prst="roundRect">
            <a:avLst>
              <a:gd name="adj" fmla="val 1538"/>
            </a:avLst>
          </a:prstGeom>
          <a:solidFill>
            <a:srgbClr val="1B2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5532120" y="28346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5687568" y="28346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843016" y="28346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3108960"/>
            <a:ext cx="6035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"voicevox":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 "@arrow2nd/vv-mcp"],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"VOICEVOX_URL": "http://localhost:50021",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"DEFAULT_VOICE_ID": "7",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"DEFAULT_SPEED": "1.0"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12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Final Config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全部入れた ~/.claude/settings.json の完成形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C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7680960" cy="3840480"/>
          </a:xfrm>
          <a:prstGeom prst="roundRect">
            <a:avLst>
              <a:gd name="adj" fmla="val 1429"/>
            </a:avLst>
          </a:prstGeom>
          <a:solidFill>
            <a:srgbClr val="1B2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4320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" y="274320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96" y="274320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7315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"context7": { "command": "npx",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 "@upstash/context7-mcp@latest"]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"serena": { "command": "uvx",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["--from", "git+https://github.com/oraios/serena",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"serena", "start-mcp-server",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"--context", "ide-assistant"]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"cipher": { "type": "stdio", "command": "cipher",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["--mode", "mcp"],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 "MCP_SERVER_MODE": "aggregator",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"ANTHROPIC_API_KEY": "sk-ant-xxxxxxxx" }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"github": { "command": "docker",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["run","-i","--rm","-e","GITHUB_PERSONAL_ACCESS_TOKEN",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"ghcr.io/github/github-mcp-server"],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 "GITHUB_PERSONAL_ACCESS_TOKEN": "ghp_xxxxxxxx" }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"voicevox": { "command": "npx", "args": ["-y", "@arrow2nd/vv-mcp"],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 "VOICEVOX_URL": "http://localhost:50021",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"DEFAULT_VOICE_ID": "7", "DEFAULT_SPEED": "1.0" }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412480" y="224028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反映手順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95360" y="2788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46820" y="3291840"/>
            <a:ext cx="0" cy="594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1897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完全終了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9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Code を一度落とす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46820" y="4389120"/>
            <a:ext cx="0" cy="594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1897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再起動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8972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もう一度起動する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95360" y="4983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89720" y="4937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9720" y="5257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list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社内勉強会  /  2026.04.28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SECTION 13</a:t>
            </a:r>
            <a:pPr indent="0" marL="0"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Wrap-up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C5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6304" cy="14630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544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" y="1554480"/>
            <a:ext cx="146304" cy="14630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今日のおさらい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724912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MCPは Claude Code の拡張機能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319272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CLIとDesktopは別物。本日はCLI側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913632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794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社内標準: Context7 / Serena / Cipher（必須） + GitHub / VoiceVox（推奨）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507992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389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設定は ~/.claude/settings.json の mcpServers に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5943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5102352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983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反映には Claude Code の再起動が必要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219456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0F2C59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次のステップ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278892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プロジェクトに 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を整備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チームでCipherの記憶共有を試す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質問・困りごとは社内Slackへ！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66560" y="470916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494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参考リンク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5074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Serena (oraios/serena)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Context7 (upstash/context7)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Cipher (campfirein/cipher)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GitHub MCP (github/github-mcp-server)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vv-mcp (arrow2nd/vv-mcp)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EF476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6400800" cy="6400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200" kern="0" dirty="0">
                <a:solidFill>
                  <a:srgbClr val="FFD16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ご清聴ありがとうございました 🎉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181448" y="4572000"/>
            <a:ext cx="182880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5BA3C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Panta Rhei Workshop  /  2026.04.28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Panta Rhei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Panta Rheiメンバーが導入すべきMCPとその入門</dc:title>
  <dc:subject>PptxGenJS Presentation</dc:subject>
  <dc:creator>Panta Rhei</dc:creator>
  <cp:lastModifiedBy>Panta Rhei</cp:lastModifiedBy>
  <cp:revision>1</cp:revision>
  <dcterms:created xsi:type="dcterms:W3CDTF">2026-04-28T09:29:19Z</dcterms:created>
  <dcterms:modified xsi:type="dcterms:W3CDTF">2026-04-28T09:29:19Z</dcterms:modified>
</cp:coreProperties>
</file>